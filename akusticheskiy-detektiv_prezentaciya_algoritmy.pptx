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7005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07253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01272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D8F66A"/>
                </a:solidFill>
                <a:latin typeface="Courier New"/>
              </a:rPr>
              <a:t>+ ОБНИНСКИЙ ХАКАТОН 2026 · НАУКА И ТЕХНОЛОГИИ · КЕЙС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095500"/>
            <a:ext cx="10566400" cy="4431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9600" cap="all" dirty="0">
                <a:solidFill>
                  <a:srgbClr val="F1F1E6"/>
                </a:solidFill>
                <a:latin typeface="Impact" panose="020B0806030902050204" pitchFamily="34" charset="0"/>
              </a:rPr>
              <a:t>Акустический </a:t>
            </a:r>
            <a:r>
              <a:rPr lang="ru-RU" sz="9600" cap="all" dirty="0">
                <a:solidFill>
                  <a:srgbClr val="D8F66A"/>
                </a:solidFill>
                <a:latin typeface="Impact" panose="020B0806030902050204" pitchFamily="34" charset="0"/>
              </a:rPr>
              <a:t>детектив</a:t>
            </a:r>
          </a:p>
          <a:p>
            <a:pPr algn="l"/>
            <a:endParaRPr lang="ru-RU" sz="9600" b="0" i="0" cap="all" dirty="0">
              <a:solidFill>
                <a:srgbClr val="F1F1E6"/>
              </a:solidFill>
              <a:effectLst/>
              <a:latin typeface="Impact" panose="020B080603090205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2800" y="5130510"/>
            <a:ext cx="9436100" cy="3815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ru-RU" sz="2200" dirty="0">
                <a:solidFill>
                  <a:srgbClr val="C9D0BF"/>
                </a:solidFill>
                <a:latin typeface="Arial"/>
              </a:rPr>
              <a:t>О</a:t>
            </a:r>
            <a:r>
              <a:rPr sz="2200" b="0" dirty="0" err="1">
                <a:solidFill>
                  <a:srgbClr val="C9D0BF"/>
                </a:solidFill>
                <a:latin typeface="Arial"/>
              </a:rPr>
              <a:t>пределяем</a:t>
            </a:r>
            <a:r>
              <a:rPr sz="2200" b="0" dirty="0">
                <a:solidFill>
                  <a:srgbClr val="C9D0BF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C9D0BF"/>
                </a:solidFill>
                <a:latin typeface="Arial"/>
              </a:rPr>
              <a:t>по</a:t>
            </a:r>
            <a:r>
              <a:rPr sz="2200" b="0" dirty="0">
                <a:solidFill>
                  <a:srgbClr val="C9D0BF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C9D0BF"/>
                </a:solidFill>
                <a:latin typeface="Arial"/>
              </a:rPr>
              <a:t>звуку</a:t>
            </a:r>
            <a:r>
              <a:rPr sz="2200" b="0" dirty="0">
                <a:solidFill>
                  <a:srgbClr val="C9D0BF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C9D0BF"/>
                </a:solidFill>
                <a:latin typeface="Arial"/>
              </a:rPr>
              <a:t>стука</a:t>
            </a:r>
            <a:r>
              <a:rPr sz="2200" b="0" dirty="0">
                <a:solidFill>
                  <a:srgbClr val="C9D0BF"/>
                </a:solidFill>
                <a:latin typeface="Arial"/>
              </a:rPr>
              <a:t>, </a:t>
            </a:r>
            <a:r>
              <a:rPr sz="2200" b="0" dirty="0" err="1">
                <a:solidFill>
                  <a:srgbClr val="C9D0BF"/>
                </a:solidFill>
                <a:latin typeface="Arial"/>
              </a:rPr>
              <a:t>из</a:t>
            </a:r>
            <a:r>
              <a:rPr sz="2200" b="0" dirty="0">
                <a:solidFill>
                  <a:srgbClr val="C9D0BF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C9D0BF"/>
                </a:solidFill>
                <a:latin typeface="Arial"/>
              </a:rPr>
              <a:t>чего</a:t>
            </a:r>
            <a:r>
              <a:rPr sz="2200" b="0" dirty="0">
                <a:solidFill>
                  <a:srgbClr val="C9D0BF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C9D0BF"/>
                </a:solidFill>
                <a:latin typeface="Arial"/>
              </a:rPr>
              <a:t>предмет</a:t>
            </a:r>
            <a:r>
              <a:rPr sz="2200" b="0" dirty="0">
                <a:solidFill>
                  <a:srgbClr val="C9D0BF"/>
                </a:solidFill>
                <a:latin typeface="Arial"/>
              </a:rPr>
              <a:t> — </a:t>
            </a:r>
            <a:r>
              <a:rPr sz="2200" b="0" dirty="0" err="1">
                <a:solidFill>
                  <a:srgbClr val="E8A95C"/>
                </a:solidFill>
                <a:latin typeface="Arial"/>
              </a:rPr>
              <a:t>дерево</a:t>
            </a:r>
            <a:r>
              <a:rPr sz="2200" b="0" dirty="0">
                <a:solidFill>
                  <a:srgbClr val="C9D0BF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C9D0BF"/>
                </a:solidFill>
                <a:latin typeface="Arial"/>
              </a:rPr>
              <a:t>или</a:t>
            </a:r>
            <a:r>
              <a:rPr sz="2200" b="0" dirty="0">
                <a:solidFill>
                  <a:srgbClr val="C9D0BF"/>
                </a:solidFill>
                <a:latin typeface="Arial"/>
              </a:rPr>
              <a:t> </a:t>
            </a:r>
            <a:r>
              <a:rPr sz="2200" b="0" dirty="0" err="1">
                <a:solidFill>
                  <a:srgbClr val="8CC4F0"/>
                </a:solidFill>
                <a:latin typeface="Arial"/>
              </a:rPr>
              <a:t>металл</a:t>
            </a:r>
            <a:endParaRPr sz="2200" b="0" dirty="0">
              <a:solidFill>
                <a:srgbClr val="8CC4F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2800" y="6253562"/>
            <a:ext cx="10566400" cy="273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dirty="0" err="1">
                <a:solidFill>
                  <a:srgbClr val="A3AC9B"/>
                </a:solidFill>
                <a:latin typeface="Courier New"/>
              </a:rPr>
              <a:t>Команда</a:t>
            </a:r>
            <a:r>
              <a:rPr sz="1600" b="0" dirty="0">
                <a:solidFill>
                  <a:srgbClr val="A3AC9B"/>
                </a:solidFill>
                <a:latin typeface="Courier New"/>
              </a:rPr>
              <a:t> </a:t>
            </a:r>
            <a:r>
              <a:rPr lang="en-US" sz="1600" dirty="0">
                <a:solidFill>
                  <a:srgbClr val="A3AC9B"/>
                </a:solidFill>
                <a:latin typeface="Courier New"/>
              </a:rPr>
              <a:t>Make no mistakes</a:t>
            </a:r>
            <a:r>
              <a:rPr lang="ru-RU" sz="1600" dirty="0">
                <a:solidFill>
                  <a:srgbClr val="A3AC9B"/>
                </a:solidFill>
                <a:latin typeface="Courier New"/>
              </a:rPr>
              <a:t> </a:t>
            </a:r>
            <a:r>
              <a:rPr sz="1600" b="0" dirty="0">
                <a:solidFill>
                  <a:srgbClr val="A3AC9B"/>
                </a:solidFill>
                <a:latin typeface="Courier New"/>
              </a:rPr>
              <a:t>· </a:t>
            </a:r>
            <a:r>
              <a:rPr lang="ru-RU" sz="1600" b="0" dirty="0">
                <a:solidFill>
                  <a:srgbClr val="A3AC9B"/>
                </a:solidFill>
                <a:latin typeface="Courier New"/>
              </a:rPr>
              <a:t>Петров Иван · Лосев Ярослав</a:t>
            </a:r>
            <a:endParaRPr sz="1600" b="0" dirty="0">
              <a:solidFill>
                <a:srgbClr val="A3AC9B"/>
              </a:solidFill>
              <a:latin typeface="Courier New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90412F-020D-4DAA-9FE4-85433F838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00" b="94667" l="6333" r="92667">
                        <a14:foregroundMark x1="13000" y1="58667" x2="13000" y2="58667"/>
                        <a14:foregroundMark x1="9667" y1="49667" x2="9667" y2="48333"/>
                        <a14:foregroundMark x1="11000" y1="33667" x2="11000" y2="33667"/>
                        <a14:foregroundMark x1="20333" y1="21000" x2="20333" y2="21000"/>
                        <a14:foregroundMark x1="35333" y1="13333" x2="35333" y2="13333"/>
                        <a14:foregroundMark x1="46667" y1="9667" x2="51667" y2="9667"/>
                        <a14:foregroundMark x1="62667" y1="9667" x2="62667" y2="9667"/>
                        <a14:foregroundMark x1="52667" y1="8000" x2="48333" y2="6333"/>
                        <a14:foregroundMark x1="50333" y1="5333" x2="50333" y2="5333"/>
                        <a14:foregroundMark x1="56333" y1="6000" x2="60333" y2="6000"/>
                        <a14:foregroundMark x1="65333" y1="8333" x2="69333" y2="9667"/>
                        <a14:foregroundMark x1="79667" y1="17000" x2="79667" y2="17000"/>
                        <a14:foregroundMark x1="88667" y1="34333" x2="88667" y2="34333"/>
                        <a14:foregroundMark x1="91333" y1="33667" x2="91333" y2="33667"/>
                        <a14:foregroundMark x1="92667" y1="44333" x2="92667" y2="44333"/>
                        <a14:foregroundMark x1="73000" y1="87000" x2="73000" y2="87000"/>
                        <a14:foregroundMark x1="68667" y1="87000" x2="70000" y2="87000"/>
                        <a14:foregroundMark x1="67000" y1="89333" x2="67000" y2="89333"/>
                        <a14:foregroundMark x1="86000" y1="74333" x2="86000" y2="74333"/>
                        <a14:foregroundMark x1="83333" y1="74333" x2="83333" y2="74333"/>
                        <a14:foregroundMark x1="85000" y1="74667" x2="85000" y2="74667"/>
                        <a14:foregroundMark x1="69667" y1="33667" x2="69667" y2="33667"/>
                        <a14:foregroundMark x1="71333" y1="33333" x2="71333" y2="31333"/>
                        <a14:foregroundMark x1="78333" y1="32667" x2="78667" y2="36333"/>
                        <a14:foregroundMark x1="78000" y1="29667" x2="78000" y2="21667"/>
                        <a14:foregroundMark x1="82000" y1="33333" x2="87000" y2="41000"/>
                        <a14:foregroundMark x1="84333" y1="42000" x2="77000" y2="46333"/>
                        <a14:foregroundMark x1="53333" y1="90333" x2="53333" y2="90333"/>
                        <a14:foregroundMark x1="51000" y1="94667" x2="51000" y2="94667"/>
                        <a14:foregroundMark x1="27000" y1="84667" x2="27000" y2="84667"/>
                        <a14:foregroundMark x1="24667" y1="84667" x2="24667" y2="84667"/>
                        <a14:foregroundMark x1="11000" y1="68667" x2="11000" y2="68667"/>
                        <a14:foregroundMark x1="8667" y1="67667" x2="8667" y2="67667"/>
                        <a14:foregroundMark x1="10000" y1="65333" x2="10000" y2="65333"/>
                        <a14:foregroundMark x1="8667" y1="65333" x2="8667" y2="65333"/>
                        <a14:foregroundMark x1="6333" y1="56667" x2="6333" y2="41333"/>
                        <a14:foregroundMark x1="36000" y1="8667" x2="37667" y2="7667"/>
                        <a14:foregroundMark x1="38000" y1="7667" x2="38000" y2="7667"/>
                        <a14:foregroundMark x1="34667" y1="8333" x2="34667" y2="8333"/>
                        <a14:foregroundMark x1="90333" y1="61667" x2="91000" y2="60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9425" y="273921"/>
            <a:ext cx="1314450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D8F66A"/>
                </a:solidFill>
                <a:latin typeface="Courier New"/>
              </a:rPr>
              <a:t>01 · ПРИНЦИП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75" y="1108075"/>
            <a:ext cx="1056640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4400" b="0" dirty="0" err="1">
                <a:solidFill>
                  <a:srgbClr val="F1F1E6"/>
                </a:solidFill>
                <a:latin typeface="Impact"/>
              </a:rPr>
              <a:t>Пайплайн</a:t>
            </a:r>
            <a:r>
              <a:rPr lang="ru-RU" sz="4400" b="0" dirty="0">
                <a:solidFill>
                  <a:srgbClr val="F1F1E6"/>
                </a:solidFill>
                <a:latin typeface="Impact"/>
              </a:rPr>
              <a:t> распознавания</a:t>
            </a:r>
            <a:endParaRPr sz="4400" b="0" dirty="0">
              <a:solidFill>
                <a:srgbClr val="F1F1E6"/>
              </a:solidFill>
              <a:latin typeface="Impact"/>
            </a:endParaRPr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46B4F8DA-B3E1-4D02-A180-C572EE5612E7}"/>
              </a:ext>
            </a:extLst>
          </p:cNvPr>
          <p:cNvGrpSpPr/>
          <p:nvPr/>
        </p:nvGrpSpPr>
        <p:grpSpPr>
          <a:xfrm>
            <a:off x="561975" y="2095499"/>
            <a:ext cx="1978025" cy="2946401"/>
            <a:chOff x="561975" y="2095499"/>
            <a:chExt cx="1978025" cy="2946401"/>
          </a:xfrm>
        </p:grpSpPr>
        <p:sp>
          <p:nvSpPr>
            <p:cNvPr id="4" name="Rectangle 3"/>
            <p:cNvSpPr/>
            <p:nvPr/>
          </p:nvSpPr>
          <p:spPr>
            <a:xfrm>
              <a:off x="561975" y="2095499"/>
              <a:ext cx="1978025" cy="2946401"/>
            </a:xfrm>
            <a:prstGeom prst="rect">
              <a:avLst/>
            </a:prstGeom>
            <a:solidFill>
              <a:srgbClr val="1B1F19"/>
            </a:solidFill>
            <a:ln w="12700">
              <a:solidFill>
                <a:srgbClr val="3A4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00075" y="2571445"/>
              <a:ext cx="1939925" cy="20719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lang="ru-RU" sz="2000" b="1" dirty="0">
                  <a:solidFill>
                    <a:srgbClr val="F1F1E6"/>
                  </a:solidFill>
                  <a:latin typeface="Arial"/>
                </a:rPr>
                <a:t>Вход</a:t>
              </a:r>
            </a:p>
            <a:p>
              <a:pPr algn="ctr">
                <a:lnSpc>
                  <a:spcPct val="115000"/>
                </a:lnSpc>
              </a:pPr>
              <a:endParaRPr lang="ru-RU" sz="1800" b="1" dirty="0">
                <a:solidFill>
                  <a:srgbClr val="F1F1E6"/>
                </a:solidFill>
                <a:latin typeface="Arial"/>
              </a:endParaRPr>
            </a:p>
            <a:p>
              <a:pPr marL="0" indent="0" algn="ctr">
                <a:buNone/>
              </a:pPr>
              <a:r>
                <a:rPr lang="en-US" sz="1800" dirty="0">
                  <a:solidFill>
                    <a:srgbClr val="F5F7F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WAV / MP3</a:t>
              </a:r>
              <a:endParaRPr lang="en-US" sz="1800" dirty="0"/>
            </a:p>
            <a:p>
              <a:pPr marL="0" indent="0" algn="ctr">
                <a:buNone/>
              </a:pPr>
              <a:r>
                <a:rPr lang="en-US" sz="1800" dirty="0" err="1">
                  <a:solidFill>
                    <a:srgbClr val="F5F7F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проверка</a:t>
              </a:r>
              <a:r>
                <a:rPr lang="en-US" sz="1800" dirty="0">
                  <a:solidFill>
                    <a:srgbClr val="F5F7F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800" dirty="0" err="1">
                  <a:solidFill>
                    <a:srgbClr val="F5F7F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формата</a:t>
              </a:r>
              <a:endParaRPr lang="en-US" sz="1800" dirty="0"/>
            </a:p>
            <a:p>
              <a:pPr marL="0" indent="0" algn="ctr">
                <a:buNone/>
              </a:pPr>
              <a:r>
                <a:rPr lang="en-US" sz="1800" dirty="0">
                  <a:solidFill>
                    <a:srgbClr val="F5F7F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и </a:t>
              </a:r>
              <a:r>
                <a:rPr lang="en-US" sz="1800" dirty="0" err="1">
                  <a:solidFill>
                    <a:srgbClr val="F5F7F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уровня</a:t>
              </a:r>
              <a:endParaRPr lang="en-US" sz="1800" dirty="0"/>
            </a:p>
            <a:p>
              <a:pPr algn="l">
                <a:lnSpc>
                  <a:spcPct val="115000"/>
                </a:lnSpc>
              </a:pPr>
              <a:endParaRPr sz="1800" b="1" dirty="0">
                <a:solidFill>
                  <a:srgbClr val="F1F1E6"/>
                </a:solidFill>
                <a:latin typeface="Arial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540000" y="3060081"/>
            <a:ext cx="1043516" cy="7124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dirty="0">
                <a:solidFill>
                  <a:srgbClr val="A3AC9B"/>
                </a:solidFill>
                <a:latin typeface="Arial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9488" y="3050376"/>
            <a:ext cx="482600" cy="66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dirty="0">
                <a:solidFill>
                  <a:srgbClr val="A3AC9B"/>
                </a:solidFill>
                <a:latin typeface="Arial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0" y="2279955"/>
            <a:ext cx="1473200" cy="2914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ru-RU" b="1" dirty="0">
                <a:solidFill>
                  <a:srgbClr val="131612"/>
                </a:solidFill>
                <a:latin typeface="Arial"/>
              </a:rPr>
              <a:t>Признаки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AFAC60F-5E0A-4348-B72F-07D40AFCD5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00" b="94667" l="6333" r="92667">
                        <a14:foregroundMark x1="13000" y1="58667" x2="13000" y2="58667"/>
                        <a14:foregroundMark x1="9667" y1="49667" x2="9667" y2="48333"/>
                        <a14:foregroundMark x1="11000" y1="33667" x2="11000" y2="33667"/>
                        <a14:foregroundMark x1="20333" y1="21000" x2="20333" y2="21000"/>
                        <a14:foregroundMark x1="35333" y1="13333" x2="35333" y2="13333"/>
                        <a14:foregroundMark x1="46667" y1="9667" x2="51667" y2="9667"/>
                        <a14:foregroundMark x1="62667" y1="9667" x2="62667" y2="9667"/>
                        <a14:foregroundMark x1="52667" y1="8000" x2="48333" y2="6333"/>
                        <a14:foregroundMark x1="50333" y1="5333" x2="50333" y2="5333"/>
                        <a14:foregroundMark x1="56333" y1="6000" x2="60333" y2="6000"/>
                        <a14:foregroundMark x1="65333" y1="8333" x2="69333" y2="9667"/>
                        <a14:foregroundMark x1="79667" y1="17000" x2="79667" y2="17000"/>
                        <a14:foregroundMark x1="88667" y1="34333" x2="88667" y2="34333"/>
                        <a14:foregroundMark x1="91333" y1="33667" x2="91333" y2="33667"/>
                        <a14:foregroundMark x1="92667" y1="44333" x2="92667" y2="44333"/>
                        <a14:foregroundMark x1="73000" y1="87000" x2="73000" y2="87000"/>
                        <a14:foregroundMark x1="68667" y1="87000" x2="70000" y2="87000"/>
                        <a14:foregroundMark x1="67000" y1="89333" x2="67000" y2="89333"/>
                        <a14:foregroundMark x1="86000" y1="74333" x2="86000" y2="74333"/>
                        <a14:foregroundMark x1="83333" y1="74333" x2="83333" y2="74333"/>
                        <a14:foregroundMark x1="85000" y1="74667" x2="85000" y2="74667"/>
                        <a14:foregroundMark x1="69667" y1="33667" x2="69667" y2="33667"/>
                        <a14:foregroundMark x1="71333" y1="33333" x2="71333" y2="31333"/>
                        <a14:foregroundMark x1="78333" y1="32667" x2="78667" y2="36333"/>
                        <a14:foregroundMark x1="78000" y1="29667" x2="78000" y2="21667"/>
                        <a14:foregroundMark x1="82000" y1="33333" x2="87000" y2="41000"/>
                        <a14:foregroundMark x1="84333" y1="42000" x2="77000" y2="46333"/>
                        <a14:foregroundMark x1="53333" y1="90333" x2="53333" y2="90333"/>
                        <a14:foregroundMark x1="51000" y1="94667" x2="51000" y2="94667"/>
                        <a14:foregroundMark x1="27000" y1="84667" x2="27000" y2="84667"/>
                        <a14:foregroundMark x1="24667" y1="84667" x2="24667" y2="84667"/>
                        <a14:foregroundMark x1="11000" y1="68667" x2="11000" y2="68667"/>
                        <a14:foregroundMark x1="8667" y1="67667" x2="8667" y2="67667"/>
                        <a14:foregroundMark x1="10000" y1="65333" x2="10000" y2="65333"/>
                        <a14:foregroundMark x1="8667" y1="65333" x2="8667" y2="65333"/>
                        <a14:foregroundMark x1="6333" y1="56667" x2="6333" y2="41333"/>
                        <a14:foregroundMark x1="36000" y1="8667" x2="37667" y2="7667"/>
                        <a14:foregroundMark x1="38000" y1="7667" x2="38000" y2="7667"/>
                        <a14:foregroundMark x1="34667" y1="8333" x2="34667" y2="8333"/>
                        <a14:foregroundMark x1="90333" y1="61667" x2="91000" y2="60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9425" y="273921"/>
            <a:ext cx="1314450" cy="1314450"/>
          </a:xfrm>
          <a:prstGeom prst="rect">
            <a:avLst/>
          </a:prstGeom>
        </p:spPr>
      </p:pic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83767E99-1C3C-4E77-ADD9-246277A5E75D}"/>
              </a:ext>
            </a:extLst>
          </p:cNvPr>
          <p:cNvGrpSpPr/>
          <p:nvPr/>
        </p:nvGrpSpPr>
        <p:grpSpPr>
          <a:xfrm>
            <a:off x="3561292" y="2095498"/>
            <a:ext cx="1987550" cy="2946401"/>
            <a:chOff x="2892425" y="2095498"/>
            <a:chExt cx="1987550" cy="2946401"/>
          </a:xfrm>
        </p:grpSpPr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0090627A-A19B-475B-9DA2-73572289CAF2}"/>
                </a:ext>
              </a:extLst>
            </p:cNvPr>
            <p:cNvSpPr/>
            <p:nvPr/>
          </p:nvSpPr>
          <p:spPr>
            <a:xfrm>
              <a:off x="2901950" y="2095498"/>
              <a:ext cx="1978025" cy="2946401"/>
            </a:xfrm>
            <a:prstGeom prst="rect">
              <a:avLst/>
            </a:prstGeom>
            <a:solidFill>
              <a:srgbClr val="1B1F19"/>
            </a:solidFill>
            <a:ln w="12700">
              <a:solidFill>
                <a:srgbClr val="3A4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B614FF9-25A0-4E07-B828-5348ECC6FC98}"/>
                </a:ext>
              </a:extLst>
            </p:cNvPr>
            <p:cNvSpPr txBox="1"/>
            <p:nvPr/>
          </p:nvSpPr>
          <p:spPr>
            <a:xfrm>
              <a:off x="2892425" y="2571445"/>
              <a:ext cx="1939925" cy="179497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lang="ru-RU" sz="2000" b="1" dirty="0" err="1">
                  <a:solidFill>
                    <a:srgbClr val="F1F1E6"/>
                  </a:solidFill>
                  <a:latin typeface="Arial"/>
                </a:rPr>
                <a:t>Препроцесс</a:t>
              </a:r>
              <a:endParaRPr lang="ru-RU" sz="2000" b="1" dirty="0">
                <a:solidFill>
                  <a:srgbClr val="F1F1E6"/>
                </a:solidFill>
                <a:latin typeface="Arial"/>
              </a:endParaRPr>
            </a:p>
            <a:p>
              <a:pPr algn="ctr">
                <a:lnSpc>
                  <a:spcPct val="115000"/>
                </a:lnSpc>
              </a:pPr>
              <a:endParaRPr lang="ru-RU" sz="1800" b="1" dirty="0">
                <a:solidFill>
                  <a:srgbClr val="F1F1E6"/>
                </a:solidFill>
                <a:latin typeface="Arial"/>
              </a:endParaRPr>
            </a:p>
            <a:p>
              <a:pPr marL="0" indent="0" algn="ctr">
                <a:buNone/>
              </a:pPr>
              <a:r>
                <a:rPr lang="en-US" sz="1800" dirty="0" err="1">
                  <a:solidFill>
                    <a:srgbClr val="F5F7F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моно</a:t>
              </a:r>
              <a:r>
                <a:rPr lang="en-US" sz="1800" dirty="0">
                  <a:solidFill>
                    <a:srgbClr val="F5F7F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· 16 </a:t>
              </a:r>
              <a:r>
                <a:rPr lang="en-US" sz="1800" dirty="0" err="1">
                  <a:solidFill>
                    <a:srgbClr val="F5F7F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кГц</a:t>
              </a:r>
              <a:endParaRPr lang="en-US" sz="1800" dirty="0"/>
            </a:p>
            <a:p>
              <a:pPr marL="0" indent="0" algn="ctr">
                <a:buNone/>
              </a:pPr>
              <a:r>
                <a:rPr lang="en-US" sz="1800" dirty="0" err="1">
                  <a:solidFill>
                    <a:srgbClr val="F5F7F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мягкий</a:t>
              </a:r>
              <a:r>
                <a:rPr lang="en-US" sz="1800" dirty="0">
                  <a:solidFill>
                    <a:srgbClr val="F5F7F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denoise</a:t>
              </a:r>
              <a:endParaRPr lang="en-US" sz="1800" dirty="0"/>
            </a:p>
            <a:p>
              <a:pPr marL="0" indent="0" algn="ctr">
                <a:buNone/>
              </a:pPr>
              <a:r>
                <a:rPr lang="en-US" sz="1800" dirty="0">
                  <a:solidFill>
                    <a:srgbClr val="F5F7F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~3.7 </a:t>
              </a:r>
              <a:r>
                <a:rPr lang="en-US" sz="1800" dirty="0" err="1">
                  <a:solidFill>
                    <a:srgbClr val="F5F7F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дБ</a:t>
              </a:r>
              <a:endParaRPr lang="en-US" sz="1800" dirty="0"/>
            </a:p>
            <a:p>
              <a:pPr algn="l">
                <a:lnSpc>
                  <a:spcPct val="115000"/>
                </a:lnSpc>
              </a:pPr>
              <a:endParaRPr sz="1800" b="1" dirty="0">
                <a:solidFill>
                  <a:srgbClr val="F1F1E6"/>
                </a:solidFill>
                <a:latin typeface="Arial"/>
              </a:endParaRPr>
            </a:p>
          </p:txBody>
        </p:sp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60328032-13E2-403A-AA16-94822E3119E9}"/>
              </a:ext>
            </a:extLst>
          </p:cNvPr>
          <p:cNvGrpSpPr/>
          <p:nvPr/>
        </p:nvGrpSpPr>
        <p:grpSpPr>
          <a:xfrm>
            <a:off x="6570134" y="2095498"/>
            <a:ext cx="2000250" cy="2946399"/>
            <a:chOff x="5162550" y="2095498"/>
            <a:chExt cx="2000250" cy="2946399"/>
          </a:xfrm>
        </p:grpSpPr>
        <p:sp>
          <p:nvSpPr>
            <p:cNvPr id="10" name="Rectangle 9"/>
            <p:cNvSpPr/>
            <p:nvPr/>
          </p:nvSpPr>
          <p:spPr>
            <a:xfrm>
              <a:off x="5184775" y="2095498"/>
              <a:ext cx="1978025" cy="2946399"/>
            </a:xfrm>
            <a:prstGeom prst="rect">
              <a:avLst/>
            </a:prstGeom>
            <a:solidFill>
              <a:srgbClr val="D8F6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6B9FC57-7919-4DF4-801C-DC21E91CDA33}"/>
                </a:ext>
              </a:extLst>
            </p:cNvPr>
            <p:cNvSpPr txBox="1"/>
            <p:nvPr/>
          </p:nvSpPr>
          <p:spPr>
            <a:xfrm>
              <a:off x="5162550" y="2598612"/>
              <a:ext cx="1939925" cy="15034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lang="ru-RU" sz="2000" b="1" dirty="0">
                  <a:latin typeface="Arial"/>
                </a:rPr>
                <a:t>Модель 1</a:t>
              </a:r>
            </a:p>
            <a:p>
              <a:pPr algn="ctr">
                <a:lnSpc>
                  <a:spcPct val="115000"/>
                </a:lnSpc>
              </a:pPr>
              <a:endParaRPr lang="ru-RU" sz="1800" b="1" dirty="0">
                <a:latin typeface="Arial"/>
              </a:endParaRPr>
            </a:p>
            <a:p>
              <a:pPr marL="0" indent="0" algn="ctr">
                <a:buNone/>
              </a:pPr>
              <a:r>
                <a:rPr lang="en-US" sz="1800" dirty="0" err="1">
                  <a:latin typeface="Arial" pitchFamily="34" charset="0"/>
                  <a:ea typeface="Arial" pitchFamily="34" charset="-122"/>
                  <a:cs typeface="Arial" pitchFamily="34" charset="-120"/>
                </a:rPr>
                <a:t>Детектор</a:t>
              </a:r>
              <a:r>
                <a:rPr lang="en-US" sz="18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800" dirty="0" err="1">
                  <a:latin typeface="Arial" pitchFamily="34" charset="0"/>
                  <a:ea typeface="Arial" pitchFamily="34" charset="-122"/>
                  <a:cs typeface="Arial" pitchFamily="34" charset="-120"/>
                </a:rPr>
                <a:t>стука</a:t>
              </a:r>
              <a:endParaRPr lang="en-US" sz="1800" dirty="0"/>
            </a:p>
            <a:p>
              <a:pPr marL="0" indent="0" algn="ctr">
                <a:buNone/>
              </a:pPr>
              <a:r>
                <a:rPr lang="en-US" sz="1800" dirty="0" err="1">
                  <a:latin typeface="Arial" pitchFamily="34" charset="0"/>
                  <a:ea typeface="Arial" pitchFamily="34" charset="-122"/>
                  <a:cs typeface="Arial" pitchFamily="34" charset="-120"/>
                </a:rPr>
                <a:t>вся</a:t>
              </a:r>
              <a:r>
                <a:rPr lang="en-US" sz="18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1800" dirty="0" err="1">
                  <a:latin typeface="Arial" pitchFamily="34" charset="0"/>
                  <a:ea typeface="Arial" pitchFamily="34" charset="-122"/>
                  <a:cs typeface="Arial" pitchFamily="34" charset="-120"/>
                </a:rPr>
                <a:t>запись</a:t>
              </a:r>
              <a:endParaRPr lang="en-US" sz="1800" dirty="0"/>
            </a:p>
            <a:p>
              <a:pPr marL="0" indent="0" algn="ctr">
                <a:buNone/>
              </a:pPr>
              <a:r>
                <a:rPr lang="en-US" sz="18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42 </a:t>
              </a:r>
              <a:r>
                <a:rPr lang="en-US" sz="1800" dirty="0" err="1">
                  <a:latin typeface="Arial" pitchFamily="34" charset="0"/>
                  <a:ea typeface="Arial" pitchFamily="34" charset="-122"/>
                  <a:cs typeface="Arial" pitchFamily="34" charset="-120"/>
                </a:rPr>
                <a:t>признака</a:t>
              </a:r>
              <a:endParaRPr sz="1800" b="1" dirty="0">
                <a:latin typeface="Arial"/>
              </a:endParaRPr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EB27DDE2-321F-4DD3-AE3F-41937F05A680}"/>
              </a:ext>
            </a:extLst>
          </p:cNvPr>
          <p:cNvGrpSpPr/>
          <p:nvPr/>
        </p:nvGrpSpPr>
        <p:grpSpPr>
          <a:xfrm>
            <a:off x="9591675" y="2049478"/>
            <a:ext cx="2000250" cy="2946399"/>
            <a:chOff x="9591675" y="2049478"/>
            <a:chExt cx="2000250" cy="2946399"/>
          </a:xfrm>
        </p:grpSpPr>
        <p:sp>
          <p:nvSpPr>
            <p:cNvPr id="24" name="Rectangle 9">
              <a:extLst>
                <a:ext uri="{FF2B5EF4-FFF2-40B4-BE49-F238E27FC236}">
                  <a16:creationId xmlns:a16="http://schemas.microsoft.com/office/drawing/2014/main" id="{D0D52965-EF2A-4C56-A9F8-91BAC78EB5CD}"/>
                </a:ext>
              </a:extLst>
            </p:cNvPr>
            <p:cNvSpPr/>
            <p:nvPr/>
          </p:nvSpPr>
          <p:spPr>
            <a:xfrm>
              <a:off x="9613900" y="2049478"/>
              <a:ext cx="1978025" cy="2946399"/>
            </a:xfrm>
            <a:prstGeom prst="rect">
              <a:avLst/>
            </a:prstGeom>
            <a:solidFill>
              <a:srgbClr val="D8F6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4B4DA1B-EFC7-4954-BB32-60171B66F0CE}"/>
                </a:ext>
              </a:extLst>
            </p:cNvPr>
            <p:cNvSpPr txBox="1"/>
            <p:nvPr/>
          </p:nvSpPr>
          <p:spPr>
            <a:xfrm>
              <a:off x="9591675" y="2567153"/>
              <a:ext cx="1939925" cy="150348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lang="ru-RU" sz="2000" b="1" dirty="0">
                  <a:latin typeface="Arial"/>
                </a:rPr>
                <a:t>Модель 2</a:t>
              </a:r>
            </a:p>
            <a:p>
              <a:pPr algn="ctr">
                <a:lnSpc>
                  <a:spcPct val="115000"/>
                </a:lnSpc>
              </a:pPr>
              <a:endParaRPr lang="ru-RU" sz="1800" b="1" dirty="0">
                <a:latin typeface="Arial"/>
              </a:endParaRPr>
            </a:p>
            <a:p>
              <a:pPr marL="0" indent="0" algn="ctr">
                <a:buNone/>
              </a:pPr>
              <a:r>
                <a:rPr lang="ru-RU" dirty="0">
                  <a:latin typeface="Arial" pitchFamily="34" charset="0"/>
                  <a:cs typeface="Arial" pitchFamily="34" charset="-120"/>
                </a:rPr>
                <a:t>Определяем м</a:t>
              </a:r>
              <a:r>
                <a:rPr lang="en-US" dirty="0" err="1">
                  <a:latin typeface="Arial" pitchFamily="34" charset="0"/>
                  <a:cs typeface="Arial" pitchFamily="34" charset="-120"/>
                </a:rPr>
                <a:t>атериал</a:t>
              </a:r>
              <a:endParaRPr lang="en-US" dirty="0">
                <a:latin typeface="Arial" pitchFamily="34" charset="0"/>
                <a:cs typeface="Arial" pitchFamily="34" charset="-120"/>
              </a:endParaRPr>
            </a:p>
            <a:p>
              <a:pPr marL="0" indent="0" algn="ctr">
                <a:buNone/>
              </a:pPr>
              <a:r>
                <a:rPr lang="en-US" dirty="0">
                  <a:latin typeface="Arial" pitchFamily="34" charset="0"/>
                  <a:cs typeface="Arial" pitchFamily="34" charset="-120"/>
                </a:rPr>
                <a:t>39 </a:t>
              </a:r>
              <a:r>
                <a:rPr lang="en-US" dirty="0" err="1">
                  <a:latin typeface="Arial" pitchFamily="34" charset="0"/>
                  <a:cs typeface="Arial" pitchFamily="34" charset="-120"/>
                </a:rPr>
                <a:t>признаков</a:t>
              </a:r>
              <a:endParaRPr dirty="0">
                <a:latin typeface="Arial" pitchFamily="34" charset="0"/>
                <a:cs typeface="Arial" pitchFamily="34" charset="-120"/>
              </a:endParaRPr>
            </a:p>
          </p:txBody>
        </p:sp>
      </p:grpSp>
      <p:sp>
        <p:nvSpPr>
          <p:cNvPr id="26" name="Text 21">
            <a:extLst>
              <a:ext uri="{FF2B5EF4-FFF2-40B4-BE49-F238E27FC236}">
                <a16:creationId xmlns:a16="http://schemas.microsoft.com/office/drawing/2014/main" id="{7392A1B5-2561-453E-8D1E-FB95A5DD4F6F}"/>
              </a:ext>
            </a:extLst>
          </p:cNvPr>
          <p:cNvSpPr/>
          <p:nvPr/>
        </p:nvSpPr>
        <p:spPr>
          <a:xfrm>
            <a:off x="680720" y="5522897"/>
            <a:ext cx="1085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9D0BF"/>
                </a:solidFill>
                <a:latin typeface="Arial"/>
              </a:rPr>
              <a:t>Обе модели — независимые LogisticRegression (scikit-learn) + </a:t>
            </a:r>
            <a:r>
              <a:rPr lang="en-US" dirty="0" err="1">
                <a:solidFill>
                  <a:srgbClr val="C9D0BF"/>
                </a:solidFill>
                <a:latin typeface="Arial"/>
              </a:rPr>
              <a:t>StandardScaler</a:t>
            </a:r>
            <a:r>
              <a:rPr lang="en-US" dirty="0">
                <a:solidFill>
                  <a:srgbClr val="C9D0BF"/>
                </a:solidFill>
                <a:latin typeface="Arial"/>
              </a:rPr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32FEDB-C50A-4F89-BB65-A0EB76B8E903}"/>
              </a:ext>
            </a:extLst>
          </p:cNvPr>
          <p:cNvSpPr txBox="1"/>
          <p:nvPr/>
        </p:nvSpPr>
        <p:spPr>
          <a:xfrm>
            <a:off x="5555191" y="3024357"/>
            <a:ext cx="1026055" cy="7124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0" dirty="0">
                <a:solidFill>
                  <a:srgbClr val="A3AC9B"/>
                </a:solidFill>
                <a:latin typeface="Arial"/>
              </a:rPr>
              <a:t>→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3BD927-074B-4BCD-9752-A0B7F44E26A9}"/>
              </a:ext>
            </a:extLst>
          </p:cNvPr>
          <p:cNvSpPr txBox="1"/>
          <p:nvPr/>
        </p:nvSpPr>
        <p:spPr>
          <a:xfrm>
            <a:off x="8625945" y="3050390"/>
            <a:ext cx="1026055" cy="7124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dirty="0">
                <a:solidFill>
                  <a:srgbClr val="A3AC9B"/>
                </a:solidFill>
                <a:latin typeface="Arial"/>
              </a:rPr>
              <a:t>→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F80F6D-5EE2-4455-B7E5-DC1BF0536F5F}"/>
              </a:ext>
            </a:extLst>
          </p:cNvPr>
          <p:cNvSpPr txBox="1"/>
          <p:nvPr/>
        </p:nvSpPr>
        <p:spPr>
          <a:xfrm>
            <a:off x="812800" y="6253562"/>
            <a:ext cx="10566400" cy="273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dirty="0" err="1">
                <a:solidFill>
                  <a:srgbClr val="A3AC9B"/>
                </a:solidFill>
                <a:latin typeface="Courier New"/>
              </a:rPr>
              <a:t>Команда</a:t>
            </a:r>
            <a:r>
              <a:rPr sz="1600" b="0" dirty="0">
                <a:solidFill>
                  <a:srgbClr val="A3AC9B"/>
                </a:solidFill>
                <a:latin typeface="Courier New"/>
              </a:rPr>
              <a:t> </a:t>
            </a:r>
            <a:r>
              <a:rPr lang="en-US" sz="1600" dirty="0">
                <a:solidFill>
                  <a:srgbClr val="A3AC9B"/>
                </a:solidFill>
                <a:latin typeface="Courier New"/>
              </a:rPr>
              <a:t>Make no mistakes</a:t>
            </a:r>
            <a:endParaRPr sz="1600" b="0" dirty="0">
              <a:solidFill>
                <a:srgbClr val="A3AC9B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39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D8F66A"/>
                </a:solidFill>
                <a:latin typeface="Courier New"/>
              </a:rPr>
              <a:t>02 · ЧТО МОДЕЛЬ </a:t>
            </a:r>
            <a:r>
              <a:rPr lang="ru-RU" sz="1400" b="0" dirty="0">
                <a:solidFill>
                  <a:srgbClr val="D8F66A"/>
                </a:solidFill>
                <a:latin typeface="Courier New"/>
              </a:rPr>
              <a:t>ВИДИТ	</a:t>
            </a:r>
            <a:endParaRPr sz="1400" b="0" dirty="0">
              <a:solidFill>
                <a:srgbClr val="D8F66A"/>
              </a:solidFill>
              <a:latin typeface="Courier New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ru-RU" sz="4400" b="0" dirty="0">
                <a:solidFill>
                  <a:srgbClr val="F1F1E6"/>
                </a:solidFill>
                <a:latin typeface="Impact"/>
              </a:rPr>
              <a:t>Признаки моделей</a:t>
            </a:r>
            <a:endParaRPr sz="4400" b="0" dirty="0">
              <a:solidFill>
                <a:srgbClr val="F1F1E6"/>
              </a:solidFill>
              <a:latin typeface="Impac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2095500"/>
          <a:ext cx="10566400" cy="3060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A3AC9B"/>
                          </a:solidFill>
                          <a:latin typeface="Arial"/>
                        </a:rPr>
                        <a:t>Признак</a:t>
                      </a:r>
                    </a:p>
                  </a:txBody>
                  <a:tcPr marL="101600" anchor="ctr">
                    <a:solidFill>
                      <a:srgbClr val="1316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A3AC9B"/>
                          </a:solidFill>
                          <a:latin typeface="Arial"/>
                        </a:rPr>
                        <a:t>Простыми словами</a:t>
                      </a:r>
                    </a:p>
                  </a:txBody>
                  <a:tcPr marL="101600" anchor="ctr">
                    <a:solidFill>
                      <a:srgbClr val="1316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A3AC9B"/>
                          </a:solidFill>
                          <a:latin typeface="Arial"/>
                        </a:rPr>
                        <a:t>Что даёт модели</a:t>
                      </a:r>
                    </a:p>
                  </a:txBody>
                  <a:tcPr marL="101600" anchor="ctr">
                    <a:solidFill>
                      <a:srgbClr val="1316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F1F1E6"/>
                          </a:solidFill>
                          <a:latin typeface="Arial"/>
                        </a:rPr>
                        <a:t>MFCC: 13 × </a:t>
                      </a:r>
                      <a:r>
                        <a:rPr sz="1400" b="0" dirty="0" err="1">
                          <a:solidFill>
                            <a:srgbClr val="F1F1E6"/>
                          </a:solidFill>
                          <a:latin typeface="Arial"/>
                        </a:rPr>
                        <a:t>среднее</a:t>
                      </a:r>
                      <a:r>
                        <a:rPr sz="1400" b="0" dirty="0">
                          <a:solidFill>
                            <a:srgbClr val="F1F1E6"/>
                          </a:solidFill>
                          <a:latin typeface="Arial"/>
                        </a:rPr>
                        <a:t> и </a:t>
                      </a:r>
                      <a:r>
                        <a:rPr sz="1400" b="0" dirty="0" err="1">
                          <a:solidFill>
                            <a:srgbClr val="F1F1E6"/>
                          </a:solidFill>
                          <a:latin typeface="Arial"/>
                        </a:rPr>
                        <a:t>разброс</a:t>
                      </a:r>
                      <a:endParaRPr sz="1400" b="0" dirty="0">
                        <a:solidFill>
                          <a:srgbClr val="F1F1E6"/>
                        </a:solidFill>
                        <a:latin typeface="Arial"/>
                      </a:endParaRPr>
                    </a:p>
                  </a:txBody>
                  <a:tcPr marL="101600" anchor="ctr">
                    <a:solidFill>
                      <a:srgbClr val="1B1F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F1F1E6"/>
                          </a:solidFill>
                          <a:latin typeface="Arial"/>
                        </a:rPr>
                        <a:t>Частотная</a:t>
                      </a:r>
                      <a:r>
                        <a:rPr sz="1400" b="0" dirty="0">
                          <a:solidFill>
                            <a:srgbClr val="F1F1E6"/>
                          </a:solidFill>
                          <a:latin typeface="Arial"/>
                        </a:rPr>
                        <a:t> «</a:t>
                      </a:r>
                      <a:r>
                        <a:rPr sz="1400" b="0" dirty="0" err="1">
                          <a:solidFill>
                            <a:srgbClr val="F1F1E6"/>
                          </a:solidFill>
                          <a:latin typeface="Arial"/>
                        </a:rPr>
                        <a:t>окраска</a:t>
                      </a:r>
                      <a:r>
                        <a:rPr sz="1400" b="0" dirty="0">
                          <a:solidFill>
                            <a:srgbClr val="F1F1E6"/>
                          </a:solidFill>
                          <a:latin typeface="Arial"/>
                        </a:rPr>
                        <a:t>» </a:t>
                      </a:r>
                      <a:r>
                        <a:rPr sz="1400" b="0" dirty="0" err="1">
                          <a:solidFill>
                            <a:srgbClr val="F1F1E6"/>
                          </a:solidFill>
                          <a:latin typeface="Arial"/>
                        </a:rPr>
                        <a:t>тембра</a:t>
                      </a:r>
                      <a:endParaRPr sz="1400" b="0" dirty="0">
                        <a:solidFill>
                          <a:srgbClr val="F1F1E6"/>
                        </a:solidFill>
                        <a:latin typeface="Arial"/>
                      </a:endParaRPr>
                    </a:p>
                  </a:txBody>
                  <a:tcPr marL="101600" anchor="ctr">
                    <a:solidFill>
                      <a:srgbClr val="1B1F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F1F1E6"/>
                          </a:solidFill>
                          <a:latin typeface="Arial"/>
                        </a:rPr>
                        <a:t>Как</a:t>
                      </a:r>
                      <a:r>
                        <a:rPr sz="1400" b="0" dirty="0">
                          <a:solidFill>
                            <a:srgbClr val="F1F1E6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F1F1E6"/>
                          </a:solidFill>
                          <a:latin typeface="Arial"/>
                        </a:rPr>
                        <a:t>энергия</a:t>
                      </a:r>
                      <a:r>
                        <a:rPr sz="1400" b="0" dirty="0">
                          <a:solidFill>
                            <a:srgbClr val="F1F1E6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F1F1E6"/>
                          </a:solidFill>
                          <a:latin typeface="Arial"/>
                        </a:rPr>
                        <a:t>распределена</a:t>
                      </a:r>
                      <a:r>
                        <a:rPr sz="1400" b="0" dirty="0">
                          <a:solidFill>
                            <a:srgbClr val="F1F1E6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F1F1E6"/>
                          </a:solidFill>
                          <a:latin typeface="Arial"/>
                        </a:rPr>
                        <a:t>по</a:t>
                      </a:r>
                      <a:r>
                        <a:rPr sz="1400" b="0" dirty="0">
                          <a:solidFill>
                            <a:srgbClr val="F1F1E6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F1F1E6"/>
                          </a:solidFill>
                          <a:latin typeface="Arial"/>
                        </a:rPr>
                        <a:t>частотам</a:t>
                      </a:r>
                      <a:endParaRPr sz="1400" b="0" dirty="0">
                        <a:solidFill>
                          <a:srgbClr val="F1F1E6"/>
                        </a:solidFill>
                        <a:latin typeface="Arial"/>
                      </a:endParaRPr>
                    </a:p>
                  </a:txBody>
                  <a:tcPr marL="101600" anchor="ctr">
                    <a:solidFill>
                      <a:srgbClr val="1B1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1F1E6"/>
                          </a:solidFill>
                          <a:latin typeface="Arial"/>
                        </a:rPr>
                        <a:t>Центр, ширина, rolloff: 3 × 2</a:t>
                      </a:r>
                    </a:p>
                  </a:txBody>
                  <a:tcPr marL="101600" anchor="ctr">
                    <a:solidFill>
                      <a:srgbClr val="1316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1F1E6"/>
                          </a:solidFill>
                          <a:latin typeface="Arial"/>
                        </a:rPr>
                        <a:t>Положение, ширина и верх спектра</a:t>
                      </a:r>
                    </a:p>
                  </a:txBody>
                  <a:tcPr marL="101600" anchor="ctr">
                    <a:solidFill>
                      <a:srgbClr val="1316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1F1E6"/>
                          </a:solidFill>
                          <a:latin typeface="Arial"/>
                        </a:rPr>
                        <a:t>Где сосредоточена энергия и насколько высоко она тянется</a:t>
                      </a:r>
                    </a:p>
                  </a:txBody>
                  <a:tcPr marL="101600" anchor="ctr">
                    <a:solidFill>
                      <a:srgbClr val="1316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1F1E6"/>
                          </a:solidFill>
                          <a:latin typeface="Arial"/>
                        </a:rPr>
                        <a:t>Плоскостность: среднее и разброс</a:t>
                      </a:r>
                    </a:p>
                  </a:txBody>
                  <a:tcPr marL="101600" anchor="ctr">
                    <a:solidFill>
                      <a:srgbClr val="1B1F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1F1E6"/>
                          </a:solidFill>
                          <a:latin typeface="Arial"/>
                        </a:rPr>
                        <a:t>Выраженный тон или ровный шум</a:t>
                      </a:r>
                    </a:p>
                  </a:txBody>
                  <a:tcPr marL="101600" anchor="ctr">
                    <a:solidFill>
                      <a:srgbClr val="1B1F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1F1E6"/>
                          </a:solidFill>
                          <a:latin typeface="Arial"/>
                        </a:rPr>
                        <a:t>Насколько в спектре заметны отдельные пики</a:t>
                      </a:r>
                    </a:p>
                  </a:txBody>
                  <a:tcPr marL="101600" anchor="ctr">
                    <a:solidFill>
                      <a:srgbClr val="1B1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1F1E6"/>
                          </a:solidFill>
                          <a:latin typeface="Arial"/>
                        </a:rPr>
                        <a:t>ZCR: среднее и разброс</a:t>
                      </a:r>
                    </a:p>
                  </a:txBody>
                  <a:tcPr marL="101600" anchor="ctr">
                    <a:solidFill>
                      <a:srgbClr val="1316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1F1E6"/>
                          </a:solidFill>
                          <a:latin typeface="Arial"/>
                        </a:rPr>
                        <a:t>Как часто сигнал меняет знак</a:t>
                      </a:r>
                    </a:p>
                  </a:txBody>
                  <a:tcPr marL="101600" anchor="ctr">
                    <a:solidFill>
                      <a:srgbClr val="13161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1F1E6"/>
                          </a:solidFill>
                          <a:latin typeface="Arial"/>
                        </a:rPr>
                        <a:t>Дополняет описание резкости и шумности</a:t>
                      </a:r>
                    </a:p>
                  </a:txBody>
                  <a:tcPr marL="101600" anchor="ctr">
                    <a:solidFill>
                      <a:srgbClr val="1316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1F1E6"/>
                          </a:solidFill>
                          <a:latin typeface="Arial"/>
                        </a:rPr>
                        <a:t>Энергия RMS: 3 участка</a:t>
                      </a:r>
                    </a:p>
                  </a:txBody>
                  <a:tcPr marL="101600" anchor="ctr">
                    <a:solidFill>
                      <a:srgbClr val="1B1F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F1F1E6"/>
                          </a:solidFill>
                          <a:latin typeface="Arial"/>
                        </a:rPr>
                        <a:t>Громкость в начале, середине и конце</a:t>
                      </a:r>
                    </a:p>
                  </a:txBody>
                  <a:tcPr marL="101600" anchor="ctr">
                    <a:solidFill>
                      <a:srgbClr val="1B1F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F1F1E6"/>
                          </a:solidFill>
                          <a:latin typeface="Arial"/>
                        </a:rPr>
                        <a:t>Как</a:t>
                      </a:r>
                      <a:r>
                        <a:rPr sz="1400" b="0" dirty="0">
                          <a:solidFill>
                            <a:srgbClr val="F1F1E6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F1F1E6"/>
                          </a:solidFill>
                          <a:latin typeface="Arial"/>
                        </a:rPr>
                        <a:t>развивается</a:t>
                      </a:r>
                      <a:r>
                        <a:rPr sz="1400" b="0" dirty="0">
                          <a:solidFill>
                            <a:srgbClr val="F1F1E6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F1F1E6"/>
                          </a:solidFill>
                          <a:latin typeface="Arial"/>
                        </a:rPr>
                        <a:t>удар</a:t>
                      </a:r>
                      <a:r>
                        <a:rPr sz="1400" b="0" dirty="0">
                          <a:solidFill>
                            <a:srgbClr val="F1F1E6"/>
                          </a:solidFill>
                          <a:latin typeface="Arial"/>
                        </a:rPr>
                        <a:t> и </a:t>
                      </a:r>
                      <a:r>
                        <a:rPr sz="1400" b="0" dirty="0" err="1">
                          <a:solidFill>
                            <a:srgbClr val="F1F1E6"/>
                          </a:solidFill>
                          <a:latin typeface="Arial"/>
                        </a:rPr>
                        <a:t>затухает</a:t>
                      </a:r>
                      <a:r>
                        <a:rPr sz="1400" b="0" dirty="0">
                          <a:solidFill>
                            <a:srgbClr val="F1F1E6"/>
                          </a:solidFill>
                          <a:latin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F1F1E6"/>
                          </a:solidFill>
                          <a:latin typeface="Arial"/>
                        </a:rPr>
                        <a:t>звук</a:t>
                      </a:r>
                      <a:endParaRPr sz="1400" b="0" dirty="0">
                        <a:solidFill>
                          <a:srgbClr val="F1F1E6"/>
                        </a:solidFill>
                        <a:latin typeface="Arial"/>
                      </a:endParaRPr>
                    </a:p>
                  </a:txBody>
                  <a:tcPr marL="101600" anchor="ctr">
                    <a:solidFill>
                      <a:srgbClr val="1B1F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2800" y="5426075"/>
            <a:ext cx="10566400" cy="291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dirty="0" err="1">
                <a:solidFill>
                  <a:srgbClr val="C9D0BF"/>
                </a:solidFill>
                <a:latin typeface="Arial"/>
              </a:rPr>
              <a:t>Активные</a:t>
            </a:r>
            <a:r>
              <a:rPr dirty="0">
                <a:solidFill>
                  <a:srgbClr val="C9D0BF"/>
                </a:solidFill>
                <a:latin typeface="Arial"/>
              </a:rPr>
              <a:t> </a:t>
            </a:r>
            <a:r>
              <a:rPr dirty="0" err="1">
                <a:solidFill>
                  <a:srgbClr val="C9D0BF"/>
                </a:solidFill>
                <a:latin typeface="Arial"/>
              </a:rPr>
              <a:t>кадры</a:t>
            </a:r>
            <a:r>
              <a:rPr dirty="0">
                <a:solidFill>
                  <a:srgbClr val="C9D0BF"/>
                </a:solidFill>
                <a:latin typeface="Arial"/>
              </a:rPr>
              <a:t>: 26 MFCC + 6 </a:t>
            </a:r>
            <a:r>
              <a:rPr dirty="0" err="1">
                <a:solidFill>
                  <a:srgbClr val="C9D0BF"/>
                </a:solidFill>
                <a:latin typeface="Arial"/>
              </a:rPr>
              <a:t>спектральных</a:t>
            </a:r>
            <a:r>
              <a:rPr dirty="0">
                <a:solidFill>
                  <a:srgbClr val="C9D0BF"/>
                </a:solidFill>
                <a:latin typeface="Arial"/>
              </a:rPr>
              <a:t> + 2 </a:t>
            </a:r>
            <a:r>
              <a:rPr dirty="0" err="1">
                <a:solidFill>
                  <a:srgbClr val="C9D0BF"/>
                </a:solidFill>
                <a:latin typeface="Arial"/>
              </a:rPr>
              <a:t>плоскостности</a:t>
            </a:r>
            <a:r>
              <a:rPr dirty="0">
                <a:solidFill>
                  <a:srgbClr val="C9D0BF"/>
                </a:solidFill>
                <a:latin typeface="Arial"/>
              </a:rPr>
              <a:t> + 2 ZCR + 3 </a:t>
            </a:r>
            <a:r>
              <a:rPr dirty="0" err="1">
                <a:solidFill>
                  <a:srgbClr val="C9D0BF"/>
                </a:solidFill>
                <a:latin typeface="Arial"/>
              </a:rPr>
              <a:t>энергии</a:t>
            </a:r>
            <a:r>
              <a:rPr dirty="0">
                <a:solidFill>
                  <a:srgbClr val="C9D0BF"/>
                </a:solidFill>
                <a:latin typeface="Arial"/>
              </a:rPr>
              <a:t> = 39.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1A2E556-9F3A-4791-A34B-BF70DCE51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00" b="94667" l="6333" r="92667">
                        <a14:foregroundMark x1="13000" y1="58667" x2="13000" y2="58667"/>
                        <a14:foregroundMark x1="9667" y1="49667" x2="9667" y2="48333"/>
                        <a14:foregroundMark x1="11000" y1="33667" x2="11000" y2="33667"/>
                        <a14:foregroundMark x1="20333" y1="21000" x2="20333" y2="21000"/>
                        <a14:foregroundMark x1="35333" y1="13333" x2="35333" y2="13333"/>
                        <a14:foregroundMark x1="46667" y1="9667" x2="51667" y2="9667"/>
                        <a14:foregroundMark x1="62667" y1="9667" x2="62667" y2="9667"/>
                        <a14:foregroundMark x1="52667" y1="8000" x2="48333" y2="6333"/>
                        <a14:foregroundMark x1="50333" y1="5333" x2="50333" y2="5333"/>
                        <a14:foregroundMark x1="56333" y1="6000" x2="60333" y2="6000"/>
                        <a14:foregroundMark x1="65333" y1="8333" x2="69333" y2="9667"/>
                        <a14:foregroundMark x1="79667" y1="17000" x2="79667" y2="17000"/>
                        <a14:foregroundMark x1="88667" y1="34333" x2="88667" y2="34333"/>
                        <a14:foregroundMark x1="91333" y1="33667" x2="91333" y2="33667"/>
                        <a14:foregroundMark x1="92667" y1="44333" x2="92667" y2="44333"/>
                        <a14:foregroundMark x1="73000" y1="87000" x2="73000" y2="87000"/>
                        <a14:foregroundMark x1="68667" y1="87000" x2="70000" y2="87000"/>
                        <a14:foregroundMark x1="67000" y1="89333" x2="67000" y2="89333"/>
                        <a14:foregroundMark x1="86000" y1="74333" x2="86000" y2="74333"/>
                        <a14:foregroundMark x1="83333" y1="74333" x2="83333" y2="74333"/>
                        <a14:foregroundMark x1="85000" y1="74667" x2="85000" y2="74667"/>
                        <a14:foregroundMark x1="69667" y1="33667" x2="69667" y2="33667"/>
                        <a14:foregroundMark x1="71333" y1="33333" x2="71333" y2="31333"/>
                        <a14:foregroundMark x1="78333" y1="32667" x2="78667" y2="36333"/>
                        <a14:foregroundMark x1="78000" y1="29667" x2="78000" y2="21667"/>
                        <a14:foregroundMark x1="82000" y1="33333" x2="87000" y2="41000"/>
                        <a14:foregroundMark x1="84333" y1="42000" x2="77000" y2="46333"/>
                        <a14:foregroundMark x1="53333" y1="90333" x2="53333" y2="90333"/>
                        <a14:foregroundMark x1="51000" y1="94667" x2="51000" y2="94667"/>
                        <a14:foregroundMark x1="27000" y1="84667" x2="27000" y2="84667"/>
                        <a14:foregroundMark x1="24667" y1="84667" x2="24667" y2="84667"/>
                        <a14:foregroundMark x1="11000" y1="68667" x2="11000" y2="68667"/>
                        <a14:foregroundMark x1="8667" y1="67667" x2="8667" y2="67667"/>
                        <a14:foregroundMark x1="10000" y1="65333" x2="10000" y2="65333"/>
                        <a14:foregroundMark x1="8667" y1="65333" x2="8667" y2="65333"/>
                        <a14:foregroundMark x1="6333" y1="56667" x2="6333" y2="41333"/>
                        <a14:foregroundMark x1="36000" y1="8667" x2="37667" y2="7667"/>
                        <a14:foregroundMark x1="38000" y1="7667" x2="38000" y2="7667"/>
                        <a14:foregroundMark x1="34667" y1="8333" x2="34667" y2="8333"/>
                        <a14:foregroundMark x1="90333" y1="61667" x2="91000" y2="60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9425" y="273921"/>
            <a:ext cx="1314450" cy="1314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19D82E-1C36-4601-9089-0FE089AFDC37}"/>
              </a:ext>
            </a:extLst>
          </p:cNvPr>
          <p:cNvSpPr txBox="1"/>
          <p:nvPr/>
        </p:nvSpPr>
        <p:spPr>
          <a:xfrm>
            <a:off x="812800" y="6253562"/>
            <a:ext cx="10566400" cy="273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dirty="0" err="1">
                <a:solidFill>
                  <a:srgbClr val="A3AC9B"/>
                </a:solidFill>
                <a:latin typeface="Courier New"/>
              </a:rPr>
              <a:t>Команда</a:t>
            </a:r>
            <a:r>
              <a:rPr sz="1600" b="0" dirty="0">
                <a:solidFill>
                  <a:srgbClr val="A3AC9B"/>
                </a:solidFill>
                <a:latin typeface="Courier New"/>
              </a:rPr>
              <a:t> </a:t>
            </a:r>
            <a:r>
              <a:rPr lang="en-US" sz="1600" dirty="0">
                <a:solidFill>
                  <a:srgbClr val="A3AC9B"/>
                </a:solidFill>
                <a:latin typeface="Courier New"/>
              </a:rPr>
              <a:t>Make no mistakes</a:t>
            </a:r>
            <a:endParaRPr sz="1600" b="0" dirty="0">
              <a:solidFill>
                <a:srgbClr val="A3AC9B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D8F66A"/>
                </a:solidFill>
                <a:latin typeface="Courier New"/>
              </a:rPr>
              <a:t>03 · МОДЕЛИ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dirty="0">
                <a:solidFill>
                  <a:srgbClr val="F1F1E6"/>
                </a:solidFill>
                <a:latin typeface="Impact"/>
              </a:rPr>
              <a:t>ДВА ЛИНЕЙНЫХ КЛАССИФИКАТОРА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667000"/>
            <a:ext cx="5181600" cy="2095500"/>
          </a:xfrm>
          <a:prstGeom prst="rect">
            <a:avLst/>
          </a:prstGeom>
          <a:solidFill>
            <a:srgbClr val="1B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2800" y="2667000"/>
            <a:ext cx="5181600" cy="38100"/>
          </a:xfrm>
          <a:prstGeom prst="rect">
            <a:avLst/>
          </a:prstGeom>
          <a:solidFill>
            <a:srgbClr val="D8F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6800" y="2895600"/>
            <a:ext cx="4699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1F1E6"/>
                </a:solidFill>
                <a:latin typeface="Arial"/>
              </a:rPr>
              <a:t>01 · Детектор стука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365500"/>
            <a:ext cx="4699000" cy="56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dirty="0">
                <a:solidFill>
                  <a:srgbClr val="C9D0BF"/>
                </a:solidFill>
                <a:latin typeface="Arial"/>
              </a:rPr>
              <a:t>•  </a:t>
            </a:r>
            <a:r>
              <a:rPr sz="1400" b="0" dirty="0" err="1">
                <a:solidFill>
                  <a:srgbClr val="C9D0BF"/>
                </a:solidFill>
                <a:latin typeface="Arial"/>
              </a:rPr>
              <a:t>Вся</a:t>
            </a:r>
            <a:r>
              <a:rPr sz="1400" b="0" dirty="0">
                <a:solidFill>
                  <a:srgbClr val="C9D0B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C9D0BF"/>
                </a:solidFill>
                <a:latin typeface="Arial"/>
              </a:rPr>
              <a:t>запись</a:t>
            </a:r>
            <a:r>
              <a:rPr sz="1400" b="0" dirty="0">
                <a:solidFill>
                  <a:srgbClr val="C9D0BF"/>
                </a:solidFill>
                <a:latin typeface="Arial"/>
              </a:rPr>
              <a:t> · 42 </a:t>
            </a:r>
            <a:r>
              <a:rPr sz="1400" b="0" dirty="0" err="1">
                <a:solidFill>
                  <a:srgbClr val="C9D0BF"/>
                </a:solidFill>
                <a:latin typeface="Arial"/>
              </a:rPr>
              <a:t>признака</a:t>
            </a:r>
            <a:endParaRPr sz="1400" b="0" dirty="0">
              <a:solidFill>
                <a:srgbClr val="C9D0BF"/>
              </a:solidFill>
              <a:latin typeface="Arial"/>
            </a:endParaRPr>
          </a:p>
          <a:p>
            <a:pPr algn="l">
              <a:lnSpc>
                <a:spcPct val="140000"/>
              </a:lnSpc>
            </a:pPr>
            <a:r>
              <a:rPr sz="1400" b="0" dirty="0">
                <a:solidFill>
                  <a:srgbClr val="C9D0BF"/>
                </a:solidFill>
                <a:latin typeface="Arial"/>
              </a:rPr>
              <a:t>•  </a:t>
            </a:r>
            <a:r>
              <a:rPr sz="1400" b="0" dirty="0" err="1">
                <a:solidFill>
                  <a:srgbClr val="C9D0BF"/>
                </a:solidFill>
                <a:latin typeface="Arial"/>
              </a:rPr>
              <a:t>Классы</a:t>
            </a:r>
            <a:r>
              <a:rPr sz="1400" b="0" dirty="0">
                <a:solidFill>
                  <a:srgbClr val="C9D0BF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C9D0BF"/>
                </a:solidFill>
                <a:latin typeface="Arial"/>
              </a:rPr>
              <a:t>стук</a:t>
            </a:r>
            <a:r>
              <a:rPr sz="1400" b="0" dirty="0">
                <a:solidFill>
                  <a:srgbClr val="C9D0BF"/>
                </a:solidFill>
                <a:latin typeface="Arial"/>
              </a:rPr>
              <a:t> / </a:t>
            </a:r>
            <a:r>
              <a:rPr sz="1400" b="0" dirty="0" err="1">
                <a:solidFill>
                  <a:srgbClr val="C9D0BF"/>
                </a:solidFill>
                <a:latin typeface="Arial"/>
              </a:rPr>
              <a:t>неподходящий</a:t>
            </a:r>
            <a:r>
              <a:rPr sz="1400" b="0" dirty="0">
                <a:solidFill>
                  <a:srgbClr val="C9D0B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C9D0BF"/>
                </a:solidFill>
                <a:latin typeface="Arial"/>
              </a:rPr>
              <a:t>звук</a:t>
            </a:r>
            <a:endParaRPr sz="1400" b="0" dirty="0">
              <a:solidFill>
                <a:srgbClr val="C9D0BF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97600" y="2667000"/>
            <a:ext cx="5181600" cy="2095500"/>
          </a:xfrm>
          <a:prstGeom prst="rect">
            <a:avLst/>
          </a:prstGeom>
          <a:solidFill>
            <a:srgbClr val="1B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7600" y="2667000"/>
            <a:ext cx="5181600" cy="38100"/>
          </a:xfrm>
          <a:prstGeom prst="rect">
            <a:avLst/>
          </a:prstGeom>
          <a:solidFill>
            <a:srgbClr val="D8F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1600" y="2895600"/>
            <a:ext cx="4699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1F1E6"/>
                </a:solidFill>
                <a:latin typeface="Arial"/>
              </a:rPr>
              <a:t>02 · Классификатор материала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1600" y="3365500"/>
            <a:ext cx="4699000" cy="568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dirty="0">
                <a:solidFill>
                  <a:srgbClr val="C9D0BF"/>
                </a:solidFill>
                <a:latin typeface="Arial"/>
              </a:rPr>
              <a:t>•  2 </a:t>
            </a:r>
            <a:r>
              <a:rPr sz="1400" b="0" dirty="0" err="1">
                <a:solidFill>
                  <a:srgbClr val="C9D0BF"/>
                </a:solidFill>
                <a:latin typeface="Arial"/>
              </a:rPr>
              <a:t>секунды</a:t>
            </a:r>
            <a:r>
              <a:rPr sz="1400" b="0" dirty="0">
                <a:solidFill>
                  <a:srgbClr val="C9D0B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C9D0BF"/>
                </a:solidFill>
                <a:latin typeface="Arial"/>
              </a:rPr>
              <a:t>вокруг</a:t>
            </a:r>
            <a:r>
              <a:rPr sz="1400" b="0" dirty="0">
                <a:solidFill>
                  <a:srgbClr val="C9D0BF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C9D0BF"/>
                </a:solidFill>
                <a:latin typeface="Arial"/>
              </a:rPr>
              <a:t>удара</a:t>
            </a:r>
            <a:r>
              <a:rPr sz="1400" b="0" dirty="0">
                <a:solidFill>
                  <a:srgbClr val="C9D0BF"/>
                </a:solidFill>
                <a:latin typeface="Arial"/>
              </a:rPr>
              <a:t> · 39 </a:t>
            </a:r>
            <a:r>
              <a:rPr sz="1400" b="0" dirty="0" err="1">
                <a:solidFill>
                  <a:srgbClr val="C9D0BF"/>
                </a:solidFill>
                <a:latin typeface="Arial"/>
              </a:rPr>
              <a:t>признаков</a:t>
            </a:r>
            <a:endParaRPr sz="1400" b="0" dirty="0">
              <a:solidFill>
                <a:srgbClr val="C9D0BF"/>
              </a:solidFill>
              <a:latin typeface="Arial"/>
            </a:endParaRPr>
          </a:p>
          <a:p>
            <a:pPr algn="l">
              <a:lnSpc>
                <a:spcPct val="140000"/>
              </a:lnSpc>
            </a:pPr>
            <a:r>
              <a:rPr sz="1400" b="0" dirty="0">
                <a:solidFill>
                  <a:srgbClr val="C9D0BF"/>
                </a:solidFill>
                <a:latin typeface="Arial"/>
              </a:rPr>
              <a:t>•  </a:t>
            </a:r>
            <a:r>
              <a:rPr sz="1400" b="0" dirty="0" err="1">
                <a:solidFill>
                  <a:srgbClr val="C9D0BF"/>
                </a:solidFill>
                <a:latin typeface="Arial"/>
              </a:rPr>
              <a:t>Классы</a:t>
            </a:r>
            <a:r>
              <a:rPr sz="1400" b="0" dirty="0">
                <a:solidFill>
                  <a:srgbClr val="C9D0BF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C9D0BF"/>
                </a:solidFill>
                <a:latin typeface="Arial"/>
              </a:rPr>
              <a:t>дерево</a:t>
            </a:r>
            <a:r>
              <a:rPr sz="1400" b="0" dirty="0">
                <a:solidFill>
                  <a:srgbClr val="C9D0BF"/>
                </a:solidFill>
                <a:latin typeface="Arial"/>
              </a:rPr>
              <a:t> / </a:t>
            </a:r>
            <a:r>
              <a:rPr sz="1400" b="0" dirty="0" err="1">
                <a:solidFill>
                  <a:srgbClr val="C9D0BF"/>
                </a:solidFill>
                <a:latin typeface="Arial"/>
              </a:rPr>
              <a:t>металл</a:t>
            </a:r>
            <a:endParaRPr sz="1400" b="0" dirty="0">
              <a:solidFill>
                <a:srgbClr val="C9D0BF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2800" y="5016500"/>
            <a:ext cx="10566400" cy="7069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ru-RU" b="1" i="1" dirty="0">
                <a:solidFill>
                  <a:schemeClr val="bg1"/>
                </a:solidFill>
                <a:latin typeface="Arial"/>
              </a:rPr>
              <a:t>Почему не нейросеть</a:t>
            </a:r>
            <a:r>
              <a:rPr lang="ru-RU" sz="1800" b="1" dirty="0">
                <a:solidFill>
                  <a:srgbClr val="F1F1E6"/>
                </a:solidFill>
                <a:latin typeface="Arial"/>
              </a:rPr>
              <a:t>: </a:t>
            </a:r>
            <a:r>
              <a:rPr lang="ru-RU" sz="1800" b="0" dirty="0">
                <a:solidFill>
                  <a:srgbClr val="C9D0BF"/>
                </a:solidFill>
                <a:latin typeface="Arial"/>
              </a:rPr>
              <a:t>около 40 записей на класс — нейросеть их просто запомнит. Регрессия обучается за секунды и не переобучается.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CC875A9-695D-4DE6-AE52-73A744948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00" b="94667" l="6333" r="92667">
                        <a14:foregroundMark x1="13000" y1="58667" x2="13000" y2="58667"/>
                        <a14:foregroundMark x1="9667" y1="49667" x2="9667" y2="48333"/>
                        <a14:foregroundMark x1="11000" y1="33667" x2="11000" y2="33667"/>
                        <a14:foregroundMark x1="20333" y1="21000" x2="20333" y2="21000"/>
                        <a14:foregroundMark x1="35333" y1="13333" x2="35333" y2="13333"/>
                        <a14:foregroundMark x1="46667" y1="9667" x2="51667" y2="9667"/>
                        <a14:foregroundMark x1="62667" y1="9667" x2="62667" y2="9667"/>
                        <a14:foregroundMark x1="52667" y1="8000" x2="48333" y2="6333"/>
                        <a14:foregroundMark x1="50333" y1="5333" x2="50333" y2="5333"/>
                        <a14:foregroundMark x1="56333" y1="6000" x2="60333" y2="6000"/>
                        <a14:foregroundMark x1="65333" y1="8333" x2="69333" y2="9667"/>
                        <a14:foregroundMark x1="79667" y1="17000" x2="79667" y2="17000"/>
                        <a14:foregroundMark x1="88667" y1="34333" x2="88667" y2="34333"/>
                        <a14:foregroundMark x1="91333" y1="33667" x2="91333" y2="33667"/>
                        <a14:foregroundMark x1="92667" y1="44333" x2="92667" y2="44333"/>
                        <a14:foregroundMark x1="73000" y1="87000" x2="73000" y2="87000"/>
                        <a14:foregroundMark x1="68667" y1="87000" x2="70000" y2="87000"/>
                        <a14:foregroundMark x1="67000" y1="89333" x2="67000" y2="89333"/>
                        <a14:foregroundMark x1="86000" y1="74333" x2="86000" y2="74333"/>
                        <a14:foregroundMark x1="83333" y1="74333" x2="83333" y2="74333"/>
                        <a14:foregroundMark x1="85000" y1="74667" x2="85000" y2="74667"/>
                        <a14:foregroundMark x1="69667" y1="33667" x2="69667" y2="33667"/>
                        <a14:foregroundMark x1="71333" y1="33333" x2="71333" y2="31333"/>
                        <a14:foregroundMark x1="78333" y1="32667" x2="78667" y2="36333"/>
                        <a14:foregroundMark x1="78000" y1="29667" x2="78000" y2="21667"/>
                        <a14:foregroundMark x1="82000" y1="33333" x2="87000" y2="41000"/>
                        <a14:foregroundMark x1="84333" y1="42000" x2="77000" y2="46333"/>
                        <a14:foregroundMark x1="53333" y1="90333" x2="53333" y2="90333"/>
                        <a14:foregroundMark x1="51000" y1="94667" x2="51000" y2="94667"/>
                        <a14:foregroundMark x1="27000" y1="84667" x2="27000" y2="84667"/>
                        <a14:foregroundMark x1="24667" y1="84667" x2="24667" y2="84667"/>
                        <a14:foregroundMark x1="11000" y1="68667" x2="11000" y2="68667"/>
                        <a14:foregroundMark x1="8667" y1="67667" x2="8667" y2="67667"/>
                        <a14:foregroundMark x1="10000" y1="65333" x2="10000" y2="65333"/>
                        <a14:foregroundMark x1="8667" y1="65333" x2="8667" y2="65333"/>
                        <a14:foregroundMark x1="6333" y1="56667" x2="6333" y2="41333"/>
                        <a14:foregroundMark x1="36000" y1="8667" x2="37667" y2="7667"/>
                        <a14:foregroundMark x1="38000" y1="7667" x2="38000" y2="7667"/>
                        <a14:foregroundMark x1="34667" y1="8333" x2="34667" y2="8333"/>
                        <a14:foregroundMark x1="90333" y1="61667" x2="91000" y2="60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9425" y="273921"/>
            <a:ext cx="1314450" cy="13144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429B230-D6B5-409D-812E-4C7DC655B5A5}"/>
              </a:ext>
            </a:extLst>
          </p:cNvPr>
          <p:cNvSpPr txBox="1"/>
          <p:nvPr/>
        </p:nvSpPr>
        <p:spPr>
          <a:xfrm>
            <a:off x="812800" y="6253562"/>
            <a:ext cx="10566400" cy="273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dirty="0" err="1">
                <a:solidFill>
                  <a:srgbClr val="A3AC9B"/>
                </a:solidFill>
                <a:latin typeface="Courier New"/>
              </a:rPr>
              <a:t>Команда</a:t>
            </a:r>
            <a:r>
              <a:rPr sz="1600" b="0" dirty="0">
                <a:solidFill>
                  <a:srgbClr val="A3AC9B"/>
                </a:solidFill>
                <a:latin typeface="Courier New"/>
              </a:rPr>
              <a:t> </a:t>
            </a:r>
            <a:r>
              <a:rPr lang="en-US" sz="1600" dirty="0">
                <a:solidFill>
                  <a:srgbClr val="A3AC9B"/>
                </a:solidFill>
                <a:latin typeface="Courier New"/>
              </a:rPr>
              <a:t>Make no mistakes</a:t>
            </a:r>
            <a:endParaRPr sz="1600" b="0" dirty="0">
              <a:solidFill>
                <a:srgbClr val="A3AC9B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D8F66A"/>
                </a:solidFill>
                <a:latin typeface="Courier New"/>
              </a:rPr>
              <a:t>04 ·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dirty="0">
                <a:solidFill>
                  <a:srgbClr val="F1F1E6"/>
                </a:solidFill>
                <a:latin typeface="Impact"/>
              </a:rPr>
              <a:t>ДАННЫЕ И АКТУАЛЬНОЕ КАЧЕСТВО</a:t>
            </a: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7B43579F-D407-4D69-A19B-9173027A25E8}"/>
              </a:ext>
            </a:extLst>
          </p:cNvPr>
          <p:cNvGrpSpPr/>
          <p:nvPr/>
        </p:nvGrpSpPr>
        <p:grpSpPr>
          <a:xfrm>
            <a:off x="1782233" y="2159000"/>
            <a:ext cx="3422650" cy="2540000"/>
            <a:chOff x="812800" y="2159000"/>
            <a:chExt cx="3422650" cy="2540000"/>
          </a:xfrm>
        </p:grpSpPr>
        <p:sp>
          <p:nvSpPr>
            <p:cNvPr id="4" name="Rectangle 3"/>
            <p:cNvSpPr/>
            <p:nvPr/>
          </p:nvSpPr>
          <p:spPr>
            <a:xfrm>
              <a:off x="812800" y="2159000"/>
              <a:ext cx="3422650" cy="2540000"/>
            </a:xfrm>
            <a:prstGeom prst="rect">
              <a:avLst/>
            </a:prstGeom>
            <a:solidFill>
              <a:srgbClr val="131612"/>
            </a:solidFill>
            <a:ln w="12700">
              <a:solidFill>
                <a:srgbClr val="3A4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066800" y="2413000"/>
              <a:ext cx="2921000" cy="254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>
                  <a:solidFill>
                    <a:srgbClr val="A3AC9B"/>
                  </a:solidFill>
                  <a:latin typeface="Courier New"/>
                </a:rPr>
                <a:t>ОБУЧЕНИЕ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66800" y="2730500"/>
              <a:ext cx="2984500" cy="76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4800" b="0">
                  <a:solidFill>
                    <a:srgbClr val="F1F1E6"/>
                  </a:solidFill>
                  <a:latin typeface="Impact"/>
                </a:rPr>
                <a:t>109 → 327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66800" y="3619500"/>
              <a:ext cx="2921000" cy="10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35000"/>
                </a:lnSpc>
              </a:pPr>
              <a:r>
                <a:rPr sz="1400" b="0">
                  <a:solidFill>
                    <a:srgbClr val="E8A95C"/>
                  </a:solidFill>
                  <a:latin typeface="Arial"/>
                </a:rPr>
                <a:t>Исходные → после аугментации (2 варианта на запись). Материал: 55 → 165.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6AEEF0A2-4A9A-46CF-A2ED-9F876B435E56}"/>
              </a:ext>
            </a:extLst>
          </p:cNvPr>
          <p:cNvGrpSpPr/>
          <p:nvPr/>
        </p:nvGrpSpPr>
        <p:grpSpPr>
          <a:xfrm>
            <a:off x="6987116" y="2159000"/>
            <a:ext cx="3422650" cy="2540000"/>
            <a:chOff x="7962900" y="2159000"/>
            <a:chExt cx="3422650" cy="2540000"/>
          </a:xfrm>
        </p:grpSpPr>
        <p:sp>
          <p:nvSpPr>
            <p:cNvPr id="12" name="Rectangle 11"/>
            <p:cNvSpPr/>
            <p:nvPr/>
          </p:nvSpPr>
          <p:spPr>
            <a:xfrm>
              <a:off x="7962900" y="2159000"/>
              <a:ext cx="3422650" cy="2540000"/>
            </a:xfrm>
            <a:prstGeom prst="rect">
              <a:avLst/>
            </a:prstGeom>
            <a:solidFill>
              <a:srgbClr val="D8F6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216900" y="2413000"/>
              <a:ext cx="2921000" cy="254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>
                  <a:solidFill>
                    <a:srgbClr val="131612"/>
                  </a:solidFill>
                  <a:latin typeface="Courier New"/>
                </a:rPr>
                <a:t>ДЕТЕКТОР · TEST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216900" y="2730500"/>
              <a:ext cx="2984500" cy="762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ru-RU" sz="4800" b="0" dirty="0">
                  <a:latin typeface="Impact"/>
                </a:rPr>
                <a:t>26 / 28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216900" y="3619500"/>
              <a:ext cx="2921000" cy="8406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35000"/>
                </a:lnSpc>
              </a:pPr>
              <a:r>
                <a:rPr lang="en-US" sz="1400" b="0" dirty="0">
                  <a:latin typeface="Arial"/>
                </a:rPr>
                <a:t>Accuracy 92,9%
Balanced accuracy 91,5%
Macro-F1 91,9%</a:t>
              </a:r>
            </a:p>
          </p:txBody>
        </p:sp>
      </p:grp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45D03B8-FC71-4751-AE05-03C97633F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00" b="94667" l="6333" r="92667">
                        <a14:foregroundMark x1="13000" y1="58667" x2="13000" y2="58667"/>
                        <a14:foregroundMark x1="9667" y1="49667" x2="9667" y2="48333"/>
                        <a14:foregroundMark x1="11000" y1="33667" x2="11000" y2="33667"/>
                        <a14:foregroundMark x1="20333" y1="21000" x2="20333" y2="21000"/>
                        <a14:foregroundMark x1="35333" y1="13333" x2="35333" y2="13333"/>
                        <a14:foregroundMark x1="46667" y1="9667" x2="51667" y2="9667"/>
                        <a14:foregroundMark x1="62667" y1="9667" x2="62667" y2="9667"/>
                        <a14:foregroundMark x1="52667" y1="8000" x2="48333" y2="6333"/>
                        <a14:foregroundMark x1="50333" y1="5333" x2="50333" y2="5333"/>
                        <a14:foregroundMark x1="56333" y1="6000" x2="60333" y2="6000"/>
                        <a14:foregroundMark x1="65333" y1="8333" x2="69333" y2="9667"/>
                        <a14:foregroundMark x1="79667" y1="17000" x2="79667" y2="17000"/>
                        <a14:foregroundMark x1="88667" y1="34333" x2="88667" y2="34333"/>
                        <a14:foregroundMark x1="91333" y1="33667" x2="91333" y2="33667"/>
                        <a14:foregroundMark x1="92667" y1="44333" x2="92667" y2="44333"/>
                        <a14:foregroundMark x1="73000" y1="87000" x2="73000" y2="87000"/>
                        <a14:foregroundMark x1="68667" y1="87000" x2="70000" y2="87000"/>
                        <a14:foregroundMark x1="67000" y1="89333" x2="67000" y2="89333"/>
                        <a14:foregroundMark x1="86000" y1="74333" x2="86000" y2="74333"/>
                        <a14:foregroundMark x1="83333" y1="74333" x2="83333" y2="74333"/>
                        <a14:foregroundMark x1="85000" y1="74667" x2="85000" y2="74667"/>
                        <a14:foregroundMark x1="69667" y1="33667" x2="69667" y2="33667"/>
                        <a14:foregroundMark x1="71333" y1="33333" x2="71333" y2="31333"/>
                        <a14:foregroundMark x1="78333" y1="32667" x2="78667" y2="36333"/>
                        <a14:foregroundMark x1="78000" y1="29667" x2="78000" y2="21667"/>
                        <a14:foregroundMark x1="82000" y1="33333" x2="87000" y2="41000"/>
                        <a14:foregroundMark x1="84333" y1="42000" x2="77000" y2="46333"/>
                        <a14:foregroundMark x1="53333" y1="90333" x2="53333" y2="90333"/>
                        <a14:foregroundMark x1="51000" y1="94667" x2="51000" y2="94667"/>
                        <a14:foregroundMark x1="27000" y1="84667" x2="27000" y2="84667"/>
                        <a14:foregroundMark x1="24667" y1="84667" x2="24667" y2="84667"/>
                        <a14:foregroundMark x1="11000" y1="68667" x2="11000" y2="68667"/>
                        <a14:foregroundMark x1="8667" y1="67667" x2="8667" y2="67667"/>
                        <a14:foregroundMark x1="10000" y1="65333" x2="10000" y2="65333"/>
                        <a14:foregroundMark x1="8667" y1="65333" x2="8667" y2="65333"/>
                        <a14:foregroundMark x1="6333" y1="56667" x2="6333" y2="41333"/>
                        <a14:foregroundMark x1="36000" y1="8667" x2="37667" y2="7667"/>
                        <a14:foregroundMark x1="38000" y1="7667" x2="38000" y2="7667"/>
                        <a14:foregroundMark x1="34667" y1="8333" x2="34667" y2="8333"/>
                        <a14:foregroundMark x1="90333" y1="61667" x2="91000" y2="60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9425" y="273921"/>
            <a:ext cx="1314450" cy="13144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0A6D729-E620-4679-A8F4-FD959C669ACD}"/>
              </a:ext>
            </a:extLst>
          </p:cNvPr>
          <p:cNvSpPr txBox="1"/>
          <p:nvPr/>
        </p:nvSpPr>
        <p:spPr>
          <a:xfrm>
            <a:off x="667808" y="5255141"/>
            <a:ext cx="1118235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1" dirty="0">
                <a:solidFill>
                  <a:schemeClr val="bg1"/>
                </a:solidFill>
                <a:latin typeface="Arial"/>
              </a:rPr>
              <a:t>Причина ошибок: </a:t>
            </a:r>
            <a:r>
              <a:rPr lang="ru-RU" sz="1500" dirty="0">
                <a:solidFill>
                  <a:srgbClr val="C9D0BF"/>
                </a:solidFill>
                <a:latin typeface="Arial"/>
              </a:rPr>
              <a:t>обучающие записи сделаны на двух микрофонах, а в тестовую выборку вошли записи с микрофона, которого не было в обучении.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D8F66A"/>
                </a:solidFill>
                <a:latin typeface="Courier New"/>
              </a:rPr>
              <a:t>+ ОБНИНСКИЙ ХАКАТОН 2026 · НАУКА И ТЕХНОЛОГИИ · КЕЙС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253562"/>
            <a:ext cx="10566400" cy="273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dirty="0" err="1">
                <a:solidFill>
                  <a:srgbClr val="A3AC9B"/>
                </a:solidFill>
                <a:latin typeface="Courier New"/>
              </a:rPr>
              <a:t>Команда</a:t>
            </a:r>
            <a:r>
              <a:rPr sz="1600" b="0" dirty="0">
                <a:solidFill>
                  <a:srgbClr val="A3AC9B"/>
                </a:solidFill>
                <a:latin typeface="Courier New"/>
              </a:rPr>
              <a:t> </a:t>
            </a:r>
            <a:r>
              <a:rPr lang="en-US" sz="1600" dirty="0">
                <a:solidFill>
                  <a:srgbClr val="A3AC9B"/>
                </a:solidFill>
                <a:latin typeface="Courier New"/>
              </a:rPr>
              <a:t>Make no mistakes</a:t>
            </a:r>
            <a:endParaRPr sz="1600" b="0" dirty="0">
              <a:solidFill>
                <a:srgbClr val="A3AC9B"/>
              </a:solidFill>
              <a:latin typeface="Courier New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90412F-020D-4DAA-9FE4-85433F838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00" b="94667" l="6333" r="92667">
                        <a14:foregroundMark x1="13000" y1="58667" x2="13000" y2="58667"/>
                        <a14:foregroundMark x1="9667" y1="49667" x2="9667" y2="48333"/>
                        <a14:foregroundMark x1="11000" y1="33667" x2="11000" y2="33667"/>
                        <a14:foregroundMark x1="20333" y1="21000" x2="20333" y2="21000"/>
                        <a14:foregroundMark x1="35333" y1="13333" x2="35333" y2="13333"/>
                        <a14:foregroundMark x1="46667" y1="9667" x2="51667" y2="9667"/>
                        <a14:foregroundMark x1="62667" y1="9667" x2="62667" y2="9667"/>
                        <a14:foregroundMark x1="52667" y1="8000" x2="48333" y2="6333"/>
                        <a14:foregroundMark x1="50333" y1="5333" x2="50333" y2="5333"/>
                        <a14:foregroundMark x1="56333" y1="6000" x2="60333" y2="6000"/>
                        <a14:foregroundMark x1="65333" y1="8333" x2="69333" y2="9667"/>
                        <a14:foregroundMark x1="79667" y1="17000" x2="79667" y2="17000"/>
                        <a14:foregroundMark x1="88667" y1="34333" x2="88667" y2="34333"/>
                        <a14:foregroundMark x1="91333" y1="33667" x2="91333" y2="33667"/>
                        <a14:foregroundMark x1="92667" y1="44333" x2="92667" y2="44333"/>
                        <a14:foregroundMark x1="73000" y1="87000" x2="73000" y2="87000"/>
                        <a14:foregroundMark x1="68667" y1="87000" x2="70000" y2="87000"/>
                        <a14:foregroundMark x1="67000" y1="89333" x2="67000" y2="89333"/>
                        <a14:foregroundMark x1="86000" y1="74333" x2="86000" y2="74333"/>
                        <a14:foregroundMark x1="83333" y1="74333" x2="83333" y2="74333"/>
                        <a14:foregroundMark x1="85000" y1="74667" x2="85000" y2="74667"/>
                        <a14:foregroundMark x1="69667" y1="33667" x2="69667" y2="33667"/>
                        <a14:foregroundMark x1="71333" y1="33333" x2="71333" y2="31333"/>
                        <a14:foregroundMark x1="78333" y1="32667" x2="78667" y2="36333"/>
                        <a14:foregroundMark x1="78000" y1="29667" x2="78000" y2="21667"/>
                        <a14:foregroundMark x1="82000" y1="33333" x2="87000" y2="41000"/>
                        <a14:foregroundMark x1="84333" y1="42000" x2="77000" y2="46333"/>
                        <a14:foregroundMark x1="53333" y1="90333" x2="53333" y2="90333"/>
                        <a14:foregroundMark x1="51000" y1="94667" x2="51000" y2="94667"/>
                        <a14:foregroundMark x1="27000" y1="84667" x2="27000" y2="84667"/>
                        <a14:foregroundMark x1="24667" y1="84667" x2="24667" y2="84667"/>
                        <a14:foregroundMark x1="11000" y1="68667" x2="11000" y2="68667"/>
                        <a14:foregroundMark x1="8667" y1="67667" x2="8667" y2="67667"/>
                        <a14:foregroundMark x1="10000" y1="65333" x2="10000" y2="65333"/>
                        <a14:foregroundMark x1="8667" y1="65333" x2="8667" y2="65333"/>
                        <a14:foregroundMark x1="6333" y1="56667" x2="6333" y2="41333"/>
                        <a14:foregroundMark x1="36000" y1="8667" x2="37667" y2="7667"/>
                        <a14:foregroundMark x1="38000" y1="7667" x2="38000" y2="7667"/>
                        <a14:foregroundMark x1="34667" y1="8333" x2="34667" y2="8333"/>
                        <a14:foregroundMark x1="90333" y1="61667" x2="91000" y2="60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9425" y="273921"/>
            <a:ext cx="1314450" cy="13144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291047-A1B3-4652-B76F-5A57E7C10A1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34" t="3480" r="1717" b="2743"/>
          <a:stretch/>
        </p:blipFill>
        <p:spPr>
          <a:xfrm>
            <a:off x="3990975" y="1347787"/>
            <a:ext cx="4210050" cy="416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22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D8F66A"/>
                </a:solidFill>
                <a:latin typeface="Courier New"/>
              </a:rPr>
              <a:t>+ ОБНИНСКИЙ ХАКАТОН 2026 · НАУКА И ТЕХНОЛОГИИ · КЕЙС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125" y="1704975"/>
            <a:ext cx="10566400" cy="4431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9600" cap="all" dirty="0">
                <a:solidFill>
                  <a:srgbClr val="F1F1E6"/>
                </a:solidFill>
                <a:latin typeface="Impact" panose="020B0806030902050204" pitchFamily="34" charset="0"/>
              </a:rPr>
              <a:t>Спасибо за </a:t>
            </a:r>
            <a:r>
              <a:rPr lang="ru-RU" sz="9600" cap="all" dirty="0">
                <a:solidFill>
                  <a:srgbClr val="D8F66A"/>
                </a:solidFill>
                <a:latin typeface="Impact" panose="020B0806030902050204" pitchFamily="34" charset="0"/>
              </a:rPr>
              <a:t>внимание</a:t>
            </a:r>
          </a:p>
          <a:p>
            <a:pPr algn="l"/>
            <a:endParaRPr lang="ru-RU" sz="9600" b="0" i="0" cap="all" dirty="0">
              <a:solidFill>
                <a:srgbClr val="F1F1E6"/>
              </a:solidFill>
              <a:effectLst/>
              <a:latin typeface="Impact" panose="020B080603090205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2800" y="6253562"/>
            <a:ext cx="10566400" cy="273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dirty="0" err="1">
                <a:solidFill>
                  <a:srgbClr val="A3AC9B"/>
                </a:solidFill>
                <a:latin typeface="Courier New"/>
              </a:rPr>
              <a:t>Команда</a:t>
            </a:r>
            <a:r>
              <a:rPr sz="1600" b="0" dirty="0">
                <a:solidFill>
                  <a:srgbClr val="A3AC9B"/>
                </a:solidFill>
                <a:latin typeface="Courier New"/>
              </a:rPr>
              <a:t> </a:t>
            </a:r>
            <a:r>
              <a:rPr lang="en-US" sz="1600" dirty="0">
                <a:solidFill>
                  <a:srgbClr val="A3AC9B"/>
                </a:solidFill>
                <a:latin typeface="Courier New"/>
              </a:rPr>
              <a:t>Make no mistakes</a:t>
            </a:r>
            <a:endParaRPr sz="1600" b="0" dirty="0">
              <a:solidFill>
                <a:srgbClr val="A3AC9B"/>
              </a:solidFill>
              <a:latin typeface="Courier New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90412F-020D-4DAA-9FE4-85433F838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00" b="94667" l="6333" r="92667">
                        <a14:foregroundMark x1="13000" y1="58667" x2="13000" y2="58667"/>
                        <a14:foregroundMark x1="9667" y1="49667" x2="9667" y2="48333"/>
                        <a14:foregroundMark x1="11000" y1="33667" x2="11000" y2="33667"/>
                        <a14:foregroundMark x1="20333" y1="21000" x2="20333" y2="21000"/>
                        <a14:foregroundMark x1="35333" y1="13333" x2="35333" y2="13333"/>
                        <a14:foregroundMark x1="46667" y1="9667" x2="51667" y2="9667"/>
                        <a14:foregroundMark x1="62667" y1="9667" x2="62667" y2="9667"/>
                        <a14:foregroundMark x1="52667" y1="8000" x2="48333" y2="6333"/>
                        <a14:foregroundMark x1="50333" y1="5333" x2="50333" y2="5333"/>
                        <a14:foregroundMark x1="56333" y1="6000" x2="60333" y2="6000"/>
                        <a14:foregroundMark x1="65333" y1="8333" x2="69333" y2="9667"/>
                        <a14:foregroundMark x1="79667" y1="17000" x2="79667" y2="17000"/>
                        <a14:foregroundMark x1="88667" y1="34333" x2="88667" y2="34333"/>
                        <a14:foregroundMark x1="91333" y1="33667" x2="91333" y2="33667"/>
                        <a14:foregroundMark x1="92667" y1="44333" x2="92667" y2="44333"/>
                        <a14:foregroundMark x1="73000" y1="87000" x2="73000" y2="87000"/>
                        <a14:foregroundMark x1="68667" y1="87000" x2="70000" y2="87000"/>
                        <a14:foregroundMark x1="67000" y1="89333" x2="67000" y2="89333"/>
                        <a14:foregroundMark x1="86000" y1="74333" x2="86000" y2="74333"/>
                        <a14:foregroundMark x1="83333" y1="74333" x2="83333" y2="74333"/>
                        <a14:foregroundMark x1="85000" y1="74667" x2="85000" y2="74667"/>
                        <a14:foregroundMark x1="69667" y1="33667" x2="69667" y2="33667"/>
                        <a14:foregroundMark x1="71333" y1="33333" x2="71333" y2="31333"/>
                        <a14:foregroundMark x1="78333" y1="32667" x2="78667" y2="36333"/>
                        <a14:foregroundMark x1="78000" y1="29667" x2="78000" y2="21667"/>
                        <a14:foregroundMark x1="82000" y1="33333" x2="87000" y2="41000"/>
                        <a14:foregroundMark x1="84333" y1="42000" x2="77000" y2="46333"/>
                        <a14:foregroundMark x1="53333" y1="90333" x2="53333" y2="90333"/>
                        <a14:foregroundMark x1="51000" y1="94667" x2="51000" y2="94667"/>
                        <a14:foregroundMark x1="27000" y1="84667" x2="27000" y2="84667"/>
                        <a14:foregroundMark x1="24667" y1="84667" x2="24667" y2="84667"/>
                        <a14:foregroundMark x1="11000" y1="68667" x2="11000" y2="68667"/>
                        <a14:foregroundMark x1="8667" y1="67667" x2="8667" y2="67667"/>
                        <a14:foregroundMark x1="10000" y1="65333" x2="10000" y2="65333"/>
                        <a14:foregroundMark x1="8667" y1="65333" x2="8667" y2="65333"/>
                        <a14:foregroundMark x1="6333" y1="56667" x2="6333" y2="41333"/>
                        <a14:foregroundMark x1="36000" y1="8667" x2="37667" y2="7667"/>
                        <a14:foregroundMark x1="38000" y1="7667" x2="38000" y2="7667"/>
                        <a14:foregroundMark x1="34667" y1="8333" x2="34667" y2="8333"/>
                        <a14:foregroundMark x1="90333" y1="61667" x2="91000" y2="60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9425" y="273921"/>
            <a:ext cx="13144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936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393</Words>
  <Application>Microsoft Office PowerPoint</Application>
  <PresentationFormat>Широкоэкранный</PresentationFormat>
  <Paragraphs>78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Impact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Акустический детектив — защита</dc:title>
  <dc:subject/>
  <dc:creator/>
  <cp:keywords/>
  <dc:description>generated using python-pptx</dc:description>
  <cp:lastModifiedBy>Ivan Kot</cp:lastModifiedBy>
  <cp:revision>14</cp:revision>
  <dcterms:created xsi:type="dcterms:W3CDTF">2013-01-27T09:14:16Z</dcterms:created>
  <dcterms:modified xsi:type="dcterms:W3CDTF">2026-10-17T12:48:25Z</dcterms:modified>
  <cp:category/>
</cp:coreProperties>
</file>